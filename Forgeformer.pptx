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  <p:sldMasterId id="2147483708" r:id="rId4"/>
    <p:sldMasterId id="2147483720" r:id="rId5"/>
    <p:sldMasterId id="2147483732" r:id="rId6"/>
  </p:sldMasterIdLst>
  <p:notesMasterIdLst>
    <p:notesMasterId r:id="rId2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32:48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24575,'812'0'-1365,"-789"0"-5461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32:50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24575,'630'0'-1365,"-608"0"-5461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40:25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24575,'610'0'-1365,"-588"0"-5461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40:27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21389,'534'0'0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3:18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24575,'381'13'0,"24"0"0,-149-13-1365,-235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3:19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24575,'766'0'0,"-742"-2"0,0 0 0,27-7 0,36-3 0,56 11-1365,-121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3:31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2 24575,'-8'2'0,"0"0"0,1 0 0,-1 1 0,0-1 0,1 2 0,-1-1 0,1 1 0,-7 5 0,-9 4 0,-33 10 0,38-16 0,1 0 0,0 1 0,-30 19 0,43-24 0,-1 0 0,1 0 0,1 1 0,-1 0 0,0 0 0,1 0 0,0 0 0,0 0 0,0 1 0,0-1 0,1 1 0,0 0 0,0 0 0,0 0 0,0 0 0,1 0 0,0 0 0,-1 7 0,-13 140 0,13-138 0,0-1 0,0 1 0,1 0 0,1 0 0,0 0 0,4 23 0,-3-30 0,1-1 0,0 0 0,0 0 0,1 0 0,-1-1 0,1 1 0,1-1 0,-1 1 0,1-1 0,0 0 0,0 0 0,0-1 0,1 1 0,-1-1 0,1 0 0,9 6 0,5-1 0,0 0 0,0-1 0,1-1 0,0-1 0,0-1 0,0-1 0,1-1 0,38 2 0,-27-2 0,47 6 0,209 13 0,-152-21 0,109-4 0,-237 3 0,0-1 0,0 0 0,0-1 0,0 0 0,0 0 0,0-1 0,0 0 0,-1 0 0,1 0 0,-1-1 0,0-1 0,0 1 0,0-1 0,-1 0 0,0 0 0,0-1 0,0 0 0,-1 0 0,1-1 0,-1 1 0,-1-1 0,0 0 0,1 0 0,-2-1 0,1 1 0,-1-1 0,-1 0 0,1 1 0,-1-1 0,-1-1 0,1 1 0,-1 0 0,-1 0 0,0-15 0,0 5 0,-2 0 0,0 1 0,-1-1 0,0 0 0,-10-26 0,12 38 0,-1 1 0,0-1 0,-1 1 0,1 0 0,-1 0 0,0 0 0,0 0 0,0 0 0,-1 1 0,0-1 0,0 1 0,0 0 0,0 0 0,-1 1 0,1-1 0,-1 1 0,0 0 0,0 0 0,0 1 0,0-1 0,-7-1 0,-6 0 0,1-1 0,0 0 0,0-1 0,1-1 0,0-1 0,0-1 0,-28-19 0,13 8 0,-1 2 0,0 0 0,-1 3 0,-1 0 0,-1 2 0,-60-14 0,-44 2 0,107 20-38,-1 1 1,1 2-1,-60 3 0,38 0-1176,33-1-5612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5:56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78 24575,'79'-10'0,"-20"1"0,214-26 0,-145 17 0,-55 12 9,120 6 0,-82 2-1392,-90-2-5443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5:57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24575,'813'0'-1365,"-791"0"-5461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55:59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24575,'966'0'-1365,"-944"0"-5461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0C3D1-5D6F-4164-882D-1514A5E504E9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6A437-45C8-4645-A15C-DEA864B00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33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6A437-45C8-4645-A15C-DEA864B00AC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991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76702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866650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59851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79969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39470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713229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74100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287805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90431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765509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515304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09729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186891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14031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474009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3730804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684930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243750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327347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463308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674849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175097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135120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621561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61287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8638438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211484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098589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070136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3875669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226325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394597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850135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632926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452191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927307"/>
      </p:ext>
    </p:extLst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349274"/>
      </p:ext>
    </p:extLst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0845220"/>
      </p:ext>
    </p:extLst>
  </p:cSld>
  <p:clrMapOvr>
    <a:masterClrMapping/>
  </p:clrMapOvr>
  <p:transition spd="slow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047568"/>
      </p:ext>
    </p:extLst>
  </p:cSld>
  <p:clrMapOvr>
    <a:masterClrMapping/>
  </p:clrMapOvr>
  <p:transition spd="slow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23090"/>
      </p:ext>
    </p:extLst>
  </p:cSld>
  <p:clrMapOvr>
    <a:masterClrMapping/>
  </p:clrMapOvr>
  <p:transition spd="slow">
    <p:push dir="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502117"/>
      </p:ext>
    </p:extLst>
  </p:cSld>
  <p:clrMapOvr>
    <a:masterClrMapping/>
  </p:clrMapOvr>
  <p:transition spd="slow"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29634"/>
      </p:ext>
    </p:extLst>
  </p:cSld>
  <p:clrMapOvr>
    <a:masterClrMapping/>
  </p:clrMapOvr>
  <p:transition spd="slow">
    <p:push dir="u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197998"/>
      </p:ext>
    </p:extLst>
  </p:cSld>
  <p:clrMapOvr>
    <a:masterClrMapping/>
  </p:clrMapOvr>
  <p:transition spd="slow">
    <p:push dir="u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822048"/>
      </p:ext>
    </p:extLst>
  </p:cSld>
  <p:clrMapOvr>
    <a:masterClrMapping/>
  </p:clrMapOvr>
  <p:transition spd="slow"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374472"/>
      </p:ext>
    </p:extLst>
  </p:cSld>
  <p:clrMapOvr>
    <a:masterClrMapping/>
  </p:clrMapOvr>
  <p:transition spd="slow">
    <p:push dir="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3212481"/>
      </p:ext>
    </p:extLst>
  </p:cSld>
  <p:clrMapOvr>
    <a:masterClrMapping/>
  </p:clrMapOvr>
  <p:transition spd="slow">
    <p:push dir="u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475281"/>
      </p:ext>
    </p:extLst>
  </p:cSld>
  <p:clrMapOvr>
    <a:masterClrMapping/>
  </p:clrMapOvr>
  <p:transition spd="slow">
    <p:push dir="u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783500"/>
      </p:ext>
    </p:extLst>
  </p:cSld>
  <p:clrMapOvr>
    <a:masterClrMapping/>
  </p:clrMapOvr>
  <p:transition spd="slow">
    <p:push dir="u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6324406"/>
      </p:ext>
    </p:extLst>
  </p:cSld>
  <p:clrMapOvr>
    <a:masterClrMapping/>
  </p:clrMapOvr>
  <p:transition spd="slow">
    <p:push dir="u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8102950"/>
      </p:ext>
    </p:extLst>
  </p:cSld>
  <p:clrMapOvr>
    <a:masterClrMapping/>
  </p:clrMapOvr>
  <p:transition spd="slow">
    <p:push dir="u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0700158"/>
      </p:ext>
    </p:extLst>
  </p:cSld>
  <p:clrMapOvr>
    <a:masterClrMapping/>
  </p:clrMapOvr>
  <p:transition spd="slow">
    <p:push dir="u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476717"/>
      </p:ext>
    </p:extLst>
  </p:cSld>
  <p:clrMapOvr>
    <a:masterClrMapping/>
  </p:clrMapOvr>
  <p:transition spd="slow">
    <p:push dir="u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368938"/>
      </p:ext>
    </p:extLst>
  </p:cSld>
  <p:clrMapOvr>
    <a:masterClrMapping/>
  </p:clrMapOvr>
  <p:transition spd="slow">
    <p:push dir="u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08487"/>
      </p:ext>
    </p:extLst>
  </p:cSld>
  <p:clrMapOvr>
    <a:masterClrMapping/>
  </p:clrMapOvr>
  <p:transition spd="slow">
    <p:push dir="u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668385"/>
      </p:ext>
    </p:extLst>
  </p:cSld>
  <p:clrMapOvr>
    <a:masterClrMapping/>
  </p:clrMapOvr>
  <p:transition spd="slow">
    <p:push dir="u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483286"/>
      </p:ext>
    </p:extLst>
  </p:cSld>
  <p:clrMapOvr>
    <a:masterClrMapping/>
  </p:clrMapOvr>
  <p:transition spd="slow">
    <p:push dir="u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266474"/>
      </p:ext>
    </p:extLst>
  </p:cSld>
  <p:clrMapOvr>
    <a:masterClrMapping/>
  </p:clrMapOvr>
  <p:transition spd="slow">
    <p:push dir="u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558467"/>
      </p:ext>
    </p:extLst>
  </p:cSld>
  <p:clrMapOvr>
    <a:masterClrMapping/>
  </p:clrMapOvr>
  <p:transition spd="slow">
    <p:push dir="u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454993"/>
      </p:ext>
    </p:extLst>
  </p:cSld>
  <p:clrMapOvr>
    <a:masterClrMapping/>
  </p:clrMapOvr>
  <p:transition spd="slow">
    <p:push dir="u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9367145"/>
      </p:ext>
    </p:extLst>
  </p:cSld>
  <p:clrMapOvr>
    <a:masterClrMapping/>
  </p:clrMapOvr>
  <p:transition spd="slow">
    <p:push dir="u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64551"/>
      </p:ext>
    </p:extLst>
  </p:cSld>
  <p:clrMapOvr>
    <a:masterClrMapping/>
  </p:clrMapOvr>
  <p:transition spd="slow">
    <p:push dir="u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7869500"/>
      </p:ext>
    </p:extLst>
  </p:cSld>
  <p:clrMapOvr>
    <a:masterClrMapping/>
  </p:clrMapOvr>
  <p:transition spd="slow">
    <p:push dir="u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059429"/>
      </p:ext>
    </p:extLst>
  </p:cSld>
  <p:clrMapOvr>
    <a:masterClrMapping/>
  </p:clrMapOvr>
  <p:transition spd="slow">
    <p:push dir="u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359118"/>
      </p:ext>
    </p:extLst>
  </p:cSld>
  <p:clrMapOvr>
    <a:masterClrMapping/>
  </p:clrMapOvr>
  <p:transition spd="slow">
    <p:push dir="u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615538"/>
      </p:ext>
    </p:extLst>
  </p:cSld>
  <p:clrMapOvr>
    <a:masterClrMapping/>
  </p:clrMapOvr>
  <p:transition spd="slow">
    <p:push dir="u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75872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51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04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19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18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3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42BDFC1-362E-45DC-8161-62533A1F50D0}" type="datetimeFigureOut">
              <a:rPr lang="en-IN" smtClean="0"/>
              <a:t>12-03-2026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61F271-01D8-4F3C-8DC9-CC3FDBDCFCC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96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itro.is-a.dev/forgeformer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ilicognition.is-a.dev/post2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customXml" Target="../ink/ink2.xml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customXml" Target="../ink/ink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5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6.png"/><Relationship Id="rId7" Type="http://schemas.openxmlformats.org/officeDocument/2006/relationships/customXml" Target="../ink/ink9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0.png"/><Relationship Id="rId5" Type="http://schemas.openxmlformats.org/officeDocument/2006/relationships/customXml" Target="../ink/ink8.xml"/><Relationship Id="rId10" Type="http://schemas.openxmlformats.org/officeDocument/2006/relationships/image" Target="../media/image39.png"/><Relationship Id="rId4" Type="http://schemas.openxmlformats.org/officeDocument/2006/relationships/image" Target="../media/image37.png"/><Relationship Id="rId9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itro.is-a.dev/" TargetMode="External"/><Relationship Id="rId2" Type="http://schemas.openxmlformats.org/officeDocument/2006/relationships/hyperlink" Target="https://x.com/silicognition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CD641-C63C-A693-7687-9547B3190E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Forgeformer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2B72A-9254-3CD8-B0E5-C9B5F0E90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120" y="4809744"/>
            <a:ext cx="6888480" cy="486980"/>
          </a:xfrm>
        </p:spPr>
        <p:txBody>
          <a:bodyPr>
            <a:normAutofit/>
          </a:bodyPr>
          <a:lstStyle/>
          <a:p>
            <a:r>
              <a:rPr lang="en-US" dirty="0"/>
              <a:t>how i built a *transformer to add 2 two-digit numbers on pen and paper.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14E0434-ECC8-2DCF-CAC0-EE4BAD3A51B0}"/>
              </a:ext>
            </a:extLst>
          </p:cNvPr>
          <p:cNvSpPr txBox="1">
            <a:spLocks/>
          </p:cNvSpPr>
          <p:nvPr/>
        </p:nvSpPr>
        <p:spPr>
          <a:xfrm>
            <a:off x="8494776" y="5163046"/>
            <a:ext cx="2356104" cy="1045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aritro shome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E6560-425A-3AEA-9084-0BECBB3069A3}"/>
              </a:ext>
            </a:extLst>
          </p:cNvPr>
          <p:cNvSpPr txBox="1"/>
          <p:nvPr/>
        </p:nvSpPr>
        <p:spPr>
          <a:xfrm>
            <a:off x="0" y="6596390"/>
            <a:ext cx="121066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* i do not claim to adopt all components (Layer Norm, FFNs, etc.) of the transformer religiously. i have modified certain things to make my objective of this exercise easier. be patient, not pedantic. </a:t>
            </a:r>
            <a:endParaRPr lang="en-IN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FA503D-2668-D5CD-AAF7-F347BC383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759" y="4853807"/>
            <a:ext cx="1463041" cy="14630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F03A20-B7F4-DF9B-32C1-FC1917BF0CE9}"/>
              </a:ext>
            </a:extLst>
          </p:cNvPr>
          <p:cNvSpPr txBox="1"/>
          <p:nvPr/>
        </p:nvSpPr>
        <p:spPr>
          <a:xfrm>
            <a:off x="106016" y="6217917"/>
            <a:ext cx="9423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tldr</a:t>
            </a:r>
            <a:r>
              <a:rPr lang="en-US" sz="1600" dirty="0"/>
              <a:t>: demo it at </a:t>
            </a:r>
            <a:r>
              <a:rPr lang="en-US" sz="1600" dirty="0">
                <a:hlinkClick r:id="rId3"/>
              </a:rPr>
              <a:t>https://aritro.is-a.dev/forgeformer</a:t>
            </a:r>
            <a:r>
              <a:rPr lang="en-US" sz="1600" dirty="0"/>
              <a:t> and read the blog at </a:t>
            </a:r>
            <a:r>
              <a:rPr lang="en-US" sz="1600" dirty="0">
                <a:hlinkClick r:id="rId4"/>
              </a:rPr>
              <a:t>https://silicognition.is-a.dev/post2.html</a:t>
            </a:r>
            <a:r>
              <a:rPr lang="en-US" sz="1600" dirty="0"/>
              <a:t>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8653959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A750-2776-B293-6BD1-EA6F3213E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on earth would I do this?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F7E5D-3C6C-07DE-D19E-1AB9060BF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mechanistic interpretability, QK and OV circuits, how attention layers specialize in tasks.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4032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8529-98E6-21AE-315E-7450815A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on earth would I do this?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C45CB-32B3-550D-2164-3479B8EB1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/>
              <a:t>having recently worked with a professor on </a:t>
            </a:r>
            <a:r>
              <a:rPr lang="en-US" i="1" dirty="0"/>
              <a:t>saliency maps </a:t>
            </a:r>
            <a:r>
              <a:rPr lang="en-US" dirty="0"/>
              <a:t>for explainable vision transformers, i naturally dug deeper into explainability and interpretability and discovered mechanistic interpretability (thank you Neel Nanda for this amazing topic)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aptly called the neurosurgery for models, mech-int goes deep into the models, and translates the numerous linear algebra operations (especially those of the attention heads) into human-understandable algorithms. this is useful for many reasons.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an academic challenge never bored me, plus i was intrigued to do this task for a long time. free will, if you will (pun intended)</a:t>
            </a:r>
          </a:p>
          <a:p>
            <a:pPr marL="457200" indent="-457200" algn="just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16790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3094-8AFF-254D-4D9A-0953B9D9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</a:t>
            </a:r>
            <a:r>
              <a:rPr lang="en-US" dirty="0" err="1"/>
              <a:t>Forgeformer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78B93-B42F-130D-163C-8E0FE8496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attention mechanism, key-query-value matrices, softmax, embeddings, tokens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656194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5DA4-FF0D-5566-8845-D3C37F4A9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C11B-35C4-9627-6099-77289CA4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</a:t>
            </a:r>
            <a:r>
              <a:rPr lang="en-US" dirty="0" err="1"/>
              <a:t>Forgeformer</a:t>
            </a:r>
            <a:r>
              <a:rPr lang="en-US" dirty="0"/>
              <a:t> – part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EA5AC-D06E-68D1-2F81-3EE392800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i="1" dirty="0"/>
              <a:t>d_model</a:t>
            </a:r>
            <a:r>
              <a:rPr lang="en-US" dirty="0"/>
              <a:t> has to be as small as possible, something like 512 is going to be a nightmare (read: impossible task) to solve on paper. I went with </a:t>
            </a:r>
            <a:r>
              <a:rPr lang="en-US" i="1" dirty="0"/>
              <a:t>d_model = </a:t>
            </a:r>
            <a:r>
              <a:rPr lang="en-US" dirty="0"/>
              <a:t>3, one dimension dedicated for position, one dimension dedicated for digit value, and one for carry related purposes.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The input token length is fixed at 5: a b c d &lt;EOS&gt;. the addition to be performed is ab + cd. a, b, c, d are all valid digits.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layer norms, FFNs and embedding and unembedding matrices would only increase the number of parameters i have to figure out, which would deviate from my task of analyzing attention heads and their relation to the task at hand. hence little “hacks” have been used there :P</a:t>
            </a:r>
          </a:p>
          <a:p>
            <a:pPr marL="457200" indent="-457200" algn="just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577451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F445A-0E59-C26E-41AB-8341CE7F6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DDAF-61DD-4784-8A32-EE405DB6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</a:t>
            </a:r>
            <a:r>
              <a:rPr lang="en-US" dirty="0" err="1"/>
              <a:t>Forgeformer</a:t>
            </a:r>
            <a:r>
              <a:rPr lang="en-US" dirty="0"/>
              <a:t> – part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D5254-8686-95C3-329B-4D6F324A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/>
              <a:t>there are 2 attention layers. one for units digit, one for tens digit. although this type of predefinition is counter intuitive to goal of </a:t>
            </a:r>
            <a:r>
              <a:rPr lang="en-US" dirty="0" err="1"/>
              <a:t>mechint</a:t>
            </a:r>
            <a:r>
              <a:rPr lang="en-US" dirty="0"/>
              <a:t> (in </a:t>
            </a:r>
            <a:r>
              <a:rPr lang="en-US" dirty="0" err="1"/>
              <a:t>mechint</a:t>
            </a:r>
            <a:r>
              <a:rPr lang="en-US" dirty="0"/>
              <a:t> we go from model weights </a:t>
            </a:r>
            <a:r>
              <a:rPr lang="en-US" dirty="0">
                <a:sym typeface="Wingdings" panose="05000000000000000000" pitchFamily="2" charset="2"/>
              </a:rPr>
              <a:t> human algorithms not the other way around), this exercise is my way of sort of coming up with the trivial-est of examples to figure out how QK and OV circuits define the tasks and outputs.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40F723-EA3D-B2D3-3CC7-D97276F24844}"/>
              </a:ext>
            </a:extLst>
          </p:cNvPr>
          <p:cNvSpPr/>
          <p:nvPr/>
        </p:nvSpPr>
        <p:spPr>
          <a:xfrm>
            <a:off x="1447799" y="4553712"/>
            <a:ext cx="1545336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Tokens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900942-882F-3EE6-CD6C-7470EB7455DA}"/>
              </a:ext>
            </a:extLst>
          </p:cNvPr>
          <p:cNvSpPr/>
          <p:nvPr/>
        </p:nvSpPr>
        <p:spPr>
          <a:xfrm>
            <a:off x="3264407" y="4553712"/>
            <a:ext cx="1545336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Embeddings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D1D811-170C-279A-595E-E51FF969C42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3135" y="5166360"/>
            <a:ext cx="271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70CA2AF-524E-B37E-0F92-8581EEC47E40}"/>
              </a:ext>
            </a:extLst>
          </p:cNvPr>
          <p:cNvSpPr/>
          <p:nvPr/>
        </p:nvSpPr>
        <p:spPr>
          <a:xfrm>
            <a:off x="5169407" y="4553712"/>
            <a:ext cx="1545336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Attention Layer 1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2EF6A2-E338-79E9-AD00-946632A8CE52}"/>
              </a:ext>
            </a:extLst>
          </p:cNvPr>
          <p:cNvSpPr/>
          <p:nvPr/>
        </p:nvSpPr>
        <p:spPr>
          <a:xfrm>
            <a:off x="7074407" y="4553712"/>
            <a:ext cx="1545336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Attention Layer 2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FEACB3-918C-B948-A27A-82D99C29559C}"/>
              </a:ext>
            </a:extLst>
          </p:cNvPr>
          <p:cNvSpPr/>
          <p:nvPr/>
        </p:nvSpPr>
        <p:spPr>
          <a:xfrm>
            <a:off x="8979407" y="4553712"/>
            <a:ext cx="1545336" cy="1225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108E2E-F026-D7BB-B4E9-D4AD14DF1059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4809743" y="5166360"/>
            <a:ext cx="3596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0CB973-7C09-E525-F125-90935F682E6E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714743" y="5166360"/>
            <a:ext cx="3596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300FC5B-45CA-0485-9D9E-8BF17910A94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8619743" y="5166360"/>
            <a:ext cx="3596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73B3289-E002-E494-B9A5-612C924C9873}"/>
              </a:ext>
            </a:extLst>
          </p:cNvPr>
          <p:cNvSpPr txBox="1"/>
          <p:nvPr/>
        </p:nvSpPr>
        <p:spPr>
          <a:xfrm>
            <a:off x="1344598" y="5900665"/>
            <a:ext cx="459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red arrow here signifies residual connection.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21677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1F46-A015-BEFB-6933-B975CB0C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9654-126B-30B0-4144-CD46EE2E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Forgeformer</a:t>
            </a:r>
            <a:r>
              <a:rPr lang="en-US" dirty="0"/>
              <a:t> attention layer 1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0A34B-CCB0-AD70-70B1-C576E67F4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attention mechanism, how key and query “attend” to required positions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07844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9A6A-3CC1-38EA-20A1-DC0276AEA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C146-D7EC-D4BE-E0A3-33B10485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Forgeformer</a:t>
            </a:r>
            <a:r>
              <a:rPr lang="en-US" dirty="0"/>
              <a:t> attention layer 1 – part 1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663CDB-7743-E70E-8811-BEA950A741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7458" y="2187564"/>
            <a:ext cx="5288563" cy="406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fontAlgn="base">
              <a:buFont typeface="+mj-lt"/>
              <a:buAutoNum type="arabicPeriod"/>
              <a:tabLst/>
            </a:pPr>
            <a:r>
              <a:rPr lang="en-US" altLang="en-US" dirty="0"/>
              <a:t>to get the units sum the EOS token needs to find only the digits at the unit positions (indices 2 and 4 in the list of tokens, considering one-indexing).</a:t>
            </a:r>
          </a:p>
          <a:p>
            <a:pPr marL="457200" marR="0" lvl="0" indent="-457200" algn="just" fontAlgn="base">
              <a:buFont typeface="+mj-lt"/>
              <a:buAutoNum type="arabicPeriod"/>
              <a:tabLst/>
            </a:pPr>
            <a:r>
              <a:rPr lang="en-US" altLang="en-US" dirty="0"/>
              <a:t>think of the EOS token as a Man on a Hill shouting through a megaphone: i am looking for anyone standing in a position indicated by a negative number!".</a:t>
            </a:r>
          </a:p>
          <a:p>
            <a:pPr marL="457200" marR="0" lvl="0" indent="-457200" algn="just" fontAlgn="base">
              <a:buFont typeface="+mj-lt"/>
              <a:buAutoNum type="arabicPeriod"/>
              <a:tabLst/>
            </a:pPr>
            <a:r>
              <a:rPr lang="en-US" altLang="en-US" dirty="0"/>
              <a:t>The Query matrix is the man shouting, and the Key matrix returns the positions of where affirmative echoes should come (very weak example)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183377-FE3D-559C-7C74-08F96CFFC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591" y="2767679"/>
            <a:ext cx="1960635" cy="89862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E23910-70E9-9EB3-9A45-5F11B49EC5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781" y="4090320"/>
            <a:ext cx="1683681" cy="10476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F75C73-8278-E8AB-8CE0-87FC9D8EE1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334" y="4090319"/>
            <a:ext cx="1457143" cy="10476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EBAD148-DFC0-A473-1ADE-7A30200A6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957" y="4090321"/>
            <a:ext cx="1380952" cy="10476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1BCFA9-6CDD-2A14-0D0F-EC54C58077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3325" y="2508850"/>
            <a:ext cx="2600978" cy="121530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A762FE-B47B-3A1F-8D94-65385DDDA7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248" y="5403293"/>
            <a:ext cx="3380952" cy="10476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7CD2598-5F1B-6C4F-1FC4-671E0C68CE85}"/>
                  </a:ext>
                </a:extLst>
              </p14:cNvPr>
              <p14:cNvContentPartPr/>
              <p14:nvPr/>
            </p14:nvContentPartPr>
            <p14:xfrm>
              <a:off x="8710378" y="6466851"/>
              <a:ext cx="3009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7CD2598-5F1B-6C4F-1FC4-671E0C68CE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04258" y="6460731"/>
                <a:ext cx="3132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C5A7D4F-BF94-4216-BB74-F5770496FEEE}"/>
                  </a:ext>
                </a:extLst>
              </p14:cNvPr>
              <p14:cNvContentPartPr/>
              <p14:nvPr/>
            </p14:nvContentPartPr>
            <p14:xfrm>
              <a:off x="9813058" y="6466851"/>
              <a:ext cx="23508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C5A7D4F-BF94-4216-BB74-F5770496FEE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06938" y="6460731"/>
                <a:ext cx="24732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5BAF2165-CB98-D5B4-4CCB-8559503B4310}"/>
              </a:ext>
            </a:extLst>
          </p:cNvPr>
          <p:cNvSpPr txBox="1"/>
          <p:nvPr/>
        </p:nvSpPr>
        <p:spPr>
          <a:xfrm>
            <a:off x="6794591" y="1729841"/>
            <a:ext cx="3701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 border =&gt; weights I derived by hand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0044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705B7-664F-C4BB-51FE-CD8DBA182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7CA7-8ECE-FD8F-3B07-EC65A327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Forgeformer</a:t>
            </a:r>
            <a:r>
              <a:rPr lang="en-US" dirty="0"/>
              <a:t> attention layer 1 – part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A9AF6-8D73-A0FB-664B-468B2E3F3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014216" cy="4023360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dirty="0"/>
              <a:t>once the K-Q handshake tells us where to look, the V will tell us how to pluck and use those values in those positions. </a:t>
            </a:r>
          </a:p>
          <a:p>
            <a:pPr marL="457200" indent="-457200" algn="just">
              <a:buAutoNum type="arabicPeriod"/>
            </a:pPr>
            <a:r>
              <a:rPr lang="en-US" dirty="0"/>
              <a:t>Analogy: K-Q is the librarian, you ask them where is a book on reptiles, they show you the shelf. Now you as the reader (V matrix) will actually use the contents in the book in those shelf.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EEF74D-6834-1934-39D9-1098511F9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164" y="2286000"/>
            <a:ext cx="2267266" cy="99073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F0F49B-60BC-5BD4-D1A3-0FAEA108C54D}"/>
              </a:ext>
            </a:extLst>
          </p:cNvPr>
          <p:cNvSpPr txBox="1"/>
          <p:nvPr/>
        </p:nvSpPr>
        <p:spPr>
          <a:xfrm>
            <a:off x="5884164" y="3396597"/>
            <a:ext cx="899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why 2?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54A408-B3C1-D43F-5B11-D8032981A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232" y="2257559"/>
            <a:ext cx="3380952" cy="10476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0F0E56-CD32-A9D2-D0FA-66935E8BA4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164" y="4057334"/>
            <a:ext cx="1573088" cy="1301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FD0F8D-CC1B-C740-BB00-579165E30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3071" y="3853224"/>
            <a:ext cx="3372321" cy="15051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C87509F-9BE3-3A2A-720F-C9D0B68128B5}"/>
                  </a:ext>
                </a:extLst>
              </p14:cNvPr>
              <p14:cNvContentPartPr/>
              <p14:nvPr/>
            </p14:nvContentPartPr>
            <p14:xfrm>
              <a:off x="9847944" y="5312376"/>
              <a:ext cx="22788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C87509F-9BE3-3A2A-720F-C9D0B68128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41824" y="5306256"/>
                <a:ext cx="240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366CA2E-A024-ACBF-E77C-69880A58C19F}"/>
                  </a:ext>
                </a:extLst>
              </p14:cNvPr>
              <p14:cNvContentPartPr/>
              <p14:nvPr/>
            </p14:nvContentPartPr>
            <p14:xfrm>
              <a:off x="10780344" y="5321736"/>
              <a:ext cx="19260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366CA2E-A024-ACBF-E77C-69880A58C1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74224" y="5315616"/>
                <a:ext cx="20484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227750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7FA2F-19C1-1EF1-644C-38472AA4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8A9FD-A67E-7E17-2C8F-E99AE24BC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Forgeformer</a:t>
            </a:r>
            <a:r>
              <a:rPr lang="en-US" dirty="0"/>
              <a:t> attention layer 1 – part 3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272EF7-6F13-0F13-FE86-733FE9009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60" y="2084832"/>
            <a:ext cx="4875271" cy="10669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C8AC1D-28CC-A6A7-CD27-25F7FEAB2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231" y="2177925"/>
            <a:ext cx="1485563" cy="7961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4E79CC-FC9E-584A-CD5C-AF9473AE9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1" y="3207155"/>
            <a:ext cx="4505932" cy="12803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9B9007-524D-72B7-A65B-11A1C862D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650" y="3370025"/>
            <a:ext cx="1887731" cy="1149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A0727D-E864-BA1F-3AFD-63A349B768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383" y="4822872"/>
            <a:ext cx="3488199" cy="13788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9868F5-13E1-3677-58D5-D1C4B170C7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582" y="4739882"/>
            <a:ext cx="4210461" cy="14034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B041C7-82C8-C565-C601-A786FB25AA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035" y="1992933"/>
            <a:ext cx="3181794" cy="141942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C786E42-4F6C-6B43-BCF3-CC17CE38A9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1507" y="3234839"/>
            <a:ext cx="3096057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1478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5D1FF-8134-277E-30BE-089CEA93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1555-1867-E6BD-32AD-1F1EC9D9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Forgeformer</a:t>
            </a:r>
            <a:r>
              <a:rPr lang="en-US" dirty="0"/>
              <a:t> attention layer 2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33422-AB6F-36CC-4F92-10702EC78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attention mechanism, how key and query “attend” to required positions, how residual connection information of previous layer(s) is 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17661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E2E42-7E62-21ED-4415-8AE326FE6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6162B-20F9-FAB9-FE12-884B554C7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Forgeformer</a:t>
            </a:r>
            <a:r>
              <a:rPr lang="en-US" dirty="0"/>
              <a:t> attention layer 2 – part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441AA-79FB-AD5F-9C00-8CF871635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675888" cy="402336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Same intuitions as before.</a:t>
            </a:r>
          </a:p>
          <a:p>
            <a:pPr marL="0" indent="0" algn="just">
              <a:buNone/>
            </a:pPr>
            <a:r>
              <a:rPr lang="en-US" dirty="0"/>
              <a:t>Last time we focused on positions 2 and 4, this time 1 and 3 for the tens digit.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A4725-A3B6-6D24-113A-9DE94B584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21" y="3364730"/>
            <a:ext cx="5020376" cy="1524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9A18FF-0635-3EE4-E6DC-FB86EB6F8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774" y="4888943"/>
            <a:ext cx="3772426" cy="12860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D9049D-B412-2241-50F5-35CCE0DD683D}"/>
              </a:ext>
            </a:extLst>
          </p:cNvPr>
          <p:cNvSpPr txBox="1"/>
          <p:nvPr/>
        </p:nvSpPr>
        <p:spPr>
          <a:xfrm>
            <a:off x="7491985" y="6043824"/>
            <a:ext cx="337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how signs are opposite of kq1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ADC99F-B367-F71C-2512-9F2266307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40" y="1566568"/>
            <a:ext cx="4706537" cy="1274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117790-EB56-5C79-40B6-AED695C83EE5}"/>
              </a:ext>
            </a:extLst>
          </p:cNvPr>
          <p:cNvSpPr txBox="1"/>
          <p:nvPr/>
        </p:nvSpPr>
        <p:spPr>
          <a:xfrm>
            <a:off x="7946136" y="2449199"/>
            <a:ext cx="3738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you recall, in Wk1 we had -10. here</a:t>
            </a:r>
          </a:p>
          <a:p>
            <a:r>
              <a:rPr lang="en-US" dirty="0"/>
              <a:t>+10. why?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BDBF89-AD71-7892-AC39-BDC7781E9904}"/>
              </a:ext>
            </a:extLst>
          </p:cNvPr>
          <p:cNvSpPr/>
          <p:nvPr/>
        </p:nvSpPr>
        <p:spPr>
          <a:xfrm>
            <a:off x="7946136" y="1700784"/>
            <a:ext cx="3322661" cy="8138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BE29DAF-1E0C-B7FD-3DD7-CF0D3D7B4FD8}"/>
                  </a:ext>
                </a:extLst>
              </p14:cNvPr>
              <p14:cNvContentPartPr/>
              <p14:nvPr/>
            </p14:nvContentPartPr>
            <p14:xfrm>
              <a:off x="7817904" y="6071256"/>
              <a:ext cx="383400" cy="10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BE29DAF-1E0C-B7FD-3DD7-CF0D3D7B4F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11784" y="6065136"/>
                <a:ext cx="39564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E43808D-7425-27A6-3737-06EA47934925}"/>
                  </a:ext>
                </a:extLst>
              </p14:cNvPr>
              <p14:cNvContentPartPr/>
              <p14:nvPr/>
            </p14:nvContentPartPr>
            <p14:xfrm>
              <a:off x="8960904" y="6062256"/>
              <a:ext cx="402480" cy="9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E43808D-7425-27A6-3737-06EA479349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54784" y="6056136"/>
                <a:ext cx="41472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CBB2DBE-DACE-FFF3-4B7F-24DD5CB29B4A}"/>
                  </a:ext>
                </a:extLst>
              </p14:cNvPr>
              <p14:cNvContentPartPr/>
              <p14:nvPr/>
            </p14:nvContentPartPr>
            <p14:xfrm>
              <a:off x="10140984" y="5814576"/>
              <a:ext cx="449640" cy="239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CBB2DBE-DACE-FFF3-4B7F-24DD5CB29B4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34864" y="5808456"/>
                <a:ext cx="46188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262741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E68F-8460-6575-5256-A2768C5DF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A7C0-BF19-DF55-17AA-9ECA2586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Forgeformer</a:t>
            </a:r>
            <a:r>
              <a:rPr lang="en-US" dirty="0"/>
              <a:t> attention layer 1 – part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47A9-EEE9-4193-8C99-B07BD87C7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03320" cy="402336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Intuitions same as before.</a:t>
            </a:r>
          </a:p>
          <a:p>
            <a:pPr marL="0" indent="0" algn="just">
              <a:buNone/>
            </a:pPr>
            <a:r>
              <a:rPr lang="en-US" dirty="0"/>
              <a:t>This time we shall change for the tens digit.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89D65-E66D-A537-974D-DBDB8E867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707" y="2048302"/>
            <a:ext cx="2048161" cy="104789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F4DAE8-CEAF-7D8A-AF9B-4277C331DFAB}"/>
              </a:ext>
            </a:extLst>
          </p:cNvPr>
          <p:cNvSpPr txBox="1"/>
          <p:nvPr/>
        </p:nvSpPr>
        <p:spPr>
          <a:xfrm>
            <a:off x="6207682" y="3059668"/>
            <a:ext cx="906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Why 3?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B5412B-1DA4-96CC-EDFA-F526A61F1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663" y="2084832"/>
            <a:ext cx="3839111" cy="1305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97C5C7-CA9E-8EA0-E406-368C2BD50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707" y="3426515"/>
            <a:ext cx="4639322" cy="14765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EA09606-6D1E-F0E6-4AA9-8C9CD07AB0F8}"/>
                  </a:ext>
                </a:extLst>
              </p14:cNvPr>
              <p14:cNvContentPartPr/>
              <p14:nvPr/>
            </p14:nvContentPartPr>
            <p14:xfrm>
              <a:off x="7927704" y="4763376"/>
              <a:ext cx="337680" cy="28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EA09606-6D1E-F0E6-4AA9-8C9CD07AB0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21584" y="4757256"/>
                <a:ext cx="3499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F880686-E644-0BAF-1CE3-940754672913}"/>
                  </a:ext>
                </a:extLst>
              </p14:cNvPr>
              <p14:cNvContentPartPr/>
              <p14:nvPr/>
            </p14:nvContentPartPr>
            <p14:xfrm>
              <a:off x="8915184" y="4745736"/>
              <a:ext cx="3009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F880686-E644-0BAF-1CE3-94075467291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09064" y="4739616"/>
                <a:ext cx="3132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3C19662-8368-686B-2A25-8B957998822B}"/>
                  </a:ext>
                </a:extLst>
              </p14:cNvPr>
              <p14:cNvContentPartPr/>
              <p14:nvPr/>
            </p14:nvContentPartPr>
            <p14:xfrm>
              <a:off x="9838584" y="4727376"/>
              <a:ext cx="35604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C19662-8368-686B-2A25-8B95799882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32464" y="4721256"/>
                <a:ext cx="36828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1B0D65AF-E6F5-5B22-6280-8E78AA2419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644" y="5197160"/>
            <a:ext cx="1914286" cy="1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7808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6E237-809B-331A-32CA-FACDDB8A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5EF7-2E2A-160E-FBF3-821E720E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Forgeformer</a:t>
            </a:r>
            <a:r>
              <a:rPr lang="en-US" dirty="0"/>
              <a:t> attention layer 1 – part 3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EB23C-4DCF-0C81-515E-C71BC00B5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64" y="1932328"/>
            <a:ext cx="4706537" cy="1274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B72BC1-0106-1522-6113-824BC3C0C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588" y="1807564"/>
            <a:ext cx="5020376" cy="1524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BEB95C-4ACC-0445-ADB1-1BA20E05F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79" y="3207015"/>
            <a:ext cx="4639322" cy="1476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2236A7-CB5F-8916-D50C-85EDFACB8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116" y="3429000"/>
            <a:ext cx="2048161" cy="1047896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BD5FBC-A4B5-F0E2-D4F0-0ACD52B591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032" y="3331777"/>
            <a:ext cx="3839111" cy="1305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1F7324-CB3B-B270-26DB-CF934433AA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021" y="5069144"/>
            <a:ext cx="1914286" cy="1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07418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765DA-358B-617F-ACA6-919C5583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18F91-FEC9-FA91-AFBB-5EFF472E0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sum out of the </a:t>
            </a:r>
            <a:r>
              <a:rPr lang="en-US" dirty="0" err="1"/>
              <a:t>Forgeformer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B1E3A-4ACE-2AB1-93DE-06FE2F2D6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how not to do unembedding by cheating a little bit (using the plus operator)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52468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9CC6-E455-9F20-AA13-96152DCD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43C5-317E-7867-D440-5A7D9FB2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sum out of the </a:t>
            </a:r>
            <a:r>
              <a:rPr lang="en-US" dirty="0" err="1"/>
              <a:t>Forgeformer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05E99-3795-A2BC-6978-5104D6FCE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85616" cy="402336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in a traditional transformer, we have unembedding matrix which converts the final logits to a corresponding token. However, our goal is to study attention layers and how they perform tasks, so we modify the final layer a little bit.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C4720-DFE0-4D65-43B0-127A779D9ACC}"/>
              </a:ext>
            </a:extLst>
          </p:cNvPr>
          <p:cNvSpPr txBox="1"/>
          <p:nvPr/>
        </p:nvSpPr>
        <p:spPr>
          <a:xfrm>
            <a:off x="5708142" y="2375174"/>
            <a:ext cx="6094476" cy="165045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units_sum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x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[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-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,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]</a:t>
            </a: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tens_sum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x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[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-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,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]</a:t>
            </a: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</a:t>
            </a: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carry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0</a:t>
            </a:r>
            <a:endParaRPr lang="en-US" b="0" dirty="0">
              <a:solidFill>
                <a:srgbClr val="BBBEBF"/>
              </a:solidFill>
              <a:effectLst/>
              <a:latin typeface="0xProto Nerd Font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</a:t>
            </a:r>
            <a:r>
              <a:rPr lang="en-US" b="0" dirty="0">
                <a:solidFill>
                  <a:srgbClr val="C184C6"/>
                </a:solidFill>
                <a:effectLst/>
                <a:latin typeface="0xProto Nerd Font Mono" panose="02000009000000000000" pitchFamily="49" charset="0"/>
              </a:rPr>
              <a:t>if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units_sum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&gt;=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10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:</a:t>
            </a: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   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carry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</a:t>
            </a:r>
            <a:endParaRPr lang="en-US" b="0" dirty="0">
              <a:solidFill>
                <a:srgbClr val="BBBEBF"/>
              </a:solidFill>
              <a:effectLst/>
              <a:latin typeface="0xProto Nerd Font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   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units_sum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-=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10</a:t>
            </a:r>
            <a:endParaRPr lang="en-US" b="0" dirty="0">
              <a:solidFill>
                <a:srgbClr val="BBBEBF"/>
              </a:solidFill>
              <a:effectLst/>
              <a:latin typeface="0xProto Nerd Font Mono" panose="02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    </a:t>
            </a: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    </a:t>
            </a:r>
            <a:r>
              <a:rPr lang="en-US" b="0" dirty="0">
                <a:solidFill>
                  <a:srgbClr val="C184C6"/>
                </a:solidFill>
                <a:effectLst/>
                <a:latin typeface="0xProto Nerd Font Mono" panose="02000009000000000000" pitchFamily="49" charset="0"/>
              </a:rPr>
              <a:t>return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(</a:t>
            </a:r>
            <a:r>
              <a:rPr lang="en-US" b="0" dirty="0">
                <a:solidFill>
                  <a:srgbClr val="48C9C4"/>
                </a:solidFill>
                <a:effectLst/>
                <a:latin typeface="0xProto Nerd Font Mono" panose="02000009000000000000" pitchFamily="49" charset="0"/>
              </a:rPr>
              <a:t>int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((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tens_sum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carry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)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A8CAAD"/>
                </a:solidFill>
                <a:effectLst/>
                <a:latin typeface="0xProto Nerd Font Mono" panose="02000009000000000000" pitchFamily="49" charset="0"/>
              </a:rPr>
              <a:t>10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C5CCD6"/>
                </a:solidFill>
                <a:effectLst/>
                <a:latin typeface="0xProto Nerd Font Mono" panose="02000009000000000000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units_sum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), </a:t>
            </a:r>
            <a:r>
              <a:rPr lang="en-US" b="0" dirty="0">
                <a:solidFill>
                  <a:srgbClr val="90D5FF"/>
                </a:solidFill>
                <a:effectLst/>
                <a:latin typeface="0xProto Nerd Font Mono" panose="02000009000000000000" pitchFamily="49" charset="0"/>
              </a:rPr>
              <a:t>states_map</a:t>
            </a:r>
            <a:r>
              <a:rPr lang="en-US" b="0" dirty="0">
                <a:solidFill>
                  <a:srgbClr val="BBBEBF"/>
                </a:solidFill>
                <a:effectLst/>
                <a:latin typeface="0xProto Nerd Font Mono" panose="02000009000000000000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F8CA3-8C3D-D65A-40E6-58EDAFC100D0}"/>
              </a:ext>
            </a:extLst>
          </p:cNvPr>
          <p:cNvSpPr txBox="1"/>
          <p:nvPr/>
        </p:nvSpPr>
        <p:spPr>
          <a:xfrm>
            <a:off x="5708142" y="4434840"/>
            <a:ext cx="60944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I grab the EOS row (last row of the residual stream output after</a:t>
            </a:r>
          </a:p>
          <a:p>
            <a:pPr algn="just"/>
            <a:r>
              <a:rPr lang="en-US" sz="1600" dirty="0"/>
              <a:t>2</a:t>
            </a:r>
            <a:r>
              <a:rPr lang="en-US" sz="1600" baseline="30000" dirty="0"/>
              <a:t>nd</a:t>
            </a:r>
            <a:r>
              <a:rPr lang="en-US" sz="1600" dirty="0"/>
              <a:t> layer. The first dimension has the carry and sum of unit’s digit and</a:t>
            </a:r>
          </a:p>
          <a:p>
            <a:pPr algn="just"/>
            <a:r>
              <a:rPr lang="en-US" sz="1600" dirty="0"/>
              <a:t>the second dimension has the sum of tens’ digit. due to this </a:t>
            </a:r>
          </a:p>
          <a:p>
            <a:pPr algn="just"/>
            <a:r>
              <a:rPr lang="en-US" sz="1600" dirty="0"/>
              <a:t>Implementation of extracting the sum, the </a:t>
            </a:r>
            <a:r>
              <a:rPr lang="en-US" sz="1600" dirty="0" err="1"/>
              <a:t>Forgeformer</a:t>
            </a:r>
            <a:r>
              <a:rPr lang="en-US" sz="1600" dirty="0"/>
              <a:t> actually </a:t>
            </a:r>
          </a:p>
          <a:p>
            <a:pPr algn="just"/>
            <a:r>
              <a:rPr lang="en-US" sz="1600" dirty="0"/>
              <a:t>“cheats” into overflowing the 2</a:t>
            </a:r>
            <a:r>
              <a:rPr lang="en-US" sz="1600" baseline="30000" dirty="0"/>
              <a:t>nd</a:t>
            </a:r>
            <a:r>
              <a:rPr lang="en-US" sz="1600" dirty="0"/>
              <a:t> dimension beyond 9 to </a:t>
            </a:r>
          </a:p>
          <a:p>
            <a:pPr algn="just"/>
            <a:r>
              <a:rPr lang="en-US" sz="1600" dirty="0"/>
              <a:t>handle sums &gt; 99 as well.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4232186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0AA7A-8AA8-3BD9-D48D-FC53A9667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27A1-E293-0B91-48A9-3A3736CF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F47F3-4DCB-C0EB-3282-FB0C44C95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keywords</a:t>
            </a:r>
            <a:r>
              <a:rPr lang="en-US" dirty="0"/>
              <a:t>: not The Chainsmokers song, what i learnt and hopefully taught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73722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9092-1B98-78AC-E2BE-9A6C91C7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E4F0-30D4-BE20-6D95-8B6D72C81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8F564-AEA6-EE6C-684A-A313638CC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AutoNum type="arabicPeriod"/>
            </a:pPr>
            <a:r>
              <a:rPr lang="en-US" dirty="0"/>
              <a:t>Properly implementing the hundredth carry, right now it cheats.</a:t>
            </a:r>
          </a:p>
          <a:p>
            <a:pPr marL="457200" indent="-457200" algn="just">
              <a:buAutoNum type="arabicPeriod"/>
            </a:pPr>
            <a:r>
              <a:rPr lang="en-US" dirty="0"/>
              <a:t>Adding FFNs and Layer Norms (if needed to see what they contribute intuitively)</a:t>
            </a:r>
          </a:p>
          <a:p>
            <a:pPr marL="457200" indent="-457200" algn="just">
              <a:buAutoNum type="arabicPeriod"/>
            </a:pPr>
            <a:r>
              <a:rPr lang="en-US" dirty="0"/>
              <a:t>Generalizing an approach for n digit + m digit, n != m (using computer trained models of course)</a:t>
            </a:r>
          </a:p>
          <a:p>
            <a:pPr marL="457200" indent="-457200" algn="just">
              <a:buAutoNum type="arabicPeriod"/>
            </a:pPr>
            <a:r>
              <a:rPr lang="en-US" dirty="0"/>
              <a:t>Carrying our concepts about what the attention heads actually do and checking with open-source models</a:t>
            </a:r>
          </a:p>
          <a:p>
            <a:pPr marL="457200" indent="-457200" algn="just">
              <a:buAutoNum type="arabicPeriod"/>
            </a:pPr>
            <a:r>
              <a:rPr lang="en-US" dirty="0"/>
              <a:t>Training one model for the same task as </a:t>
            </a:r>
            <a:r>
              <a:rPr lang="en-US" dirty="0" err="1"/>
              <a:t>Forgeformer</a:t>
            </a:r>
            <a:r>
              <a:rPr lang="en-US" dirty="0"/>
              <a:t> using </a:t>
            </a:r>
            <a:r>
              <a:rPr lang="en-US" dirty="0" err="1"/>
              <a:t>Pytorch</a:t>
            </a:r>
            <a:r>
              <a:rPr lang="en-US" dirty="0"/>
              <a:t> and comparing their weights with mine.</a:t>
            </a:r>
          </a:p>
          <a:p>
            <a:pPr marL="457200" indent="-457200" algn="just">
              <a:buAutoNum type="arabicPeriod"/>
            </a:pPr>
            <a:r>
              <a:rPr lang="en-US" dirty="0"/>
              <a:t>Doing all this for other trivial task</a:t>
            </a:r>
          </a:p>
          <a:p>
            <a:pPr marL="457200" indent="-457200" algn="just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99166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AD2F-7CE2-9E37-92F9-03DE313241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B7077-8C7E-AD3A-4334-5E0FB482DE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Twitter: </a:t>
            </a:r>
            <a:r>
              <a:rPr lang="en-US" sz="1600" dirty="0">
                <a:hlinkClick r:id="rId2"/>
              </a:rPr>
              <a:t>https://x.com/silicognition</a:t>
            </a:r>
            <a:endParaRPr lang="en-US" sz="1600" dirty="0"/>
          </a:p>
          <a:p>
            <a:r>
              <a:rPr lang="en-US" sz="1600" dirty="0"/>
              <a:t>Personal site: </a:t>
            </a:r>
            <a:r>
              <a:rPr lang="en-US" sz="1600" dirty="0">
                <a:hlinkClick r:id="rId3"/>
              </a:rPr>
              <a:t>https://aritro.is-a.dev/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dirty="0"/>
              <a:t>Feel free to reach out (even if you’re pedantic)</a:t>
            </a: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74F06-0F7B-1C6C-7A7D-8CB083A955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687" y="4960136"/>
            <a:ext cx="1463041" cy="14630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39340885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1_Integral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ppt/theme/theme3.xml><?xml version="1.0" encoding="utf-8"?>
<a:theme xmlns:a="http://schemas.openxmlformats.org/drawingml/2006/main" name="2_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ppt/theme/theme4.xml><?xml version="1.0" encoding="utf-8"?>
<a:theme xmlns:a="http://schemas.openxmlformats.org/drawingml/2006/main" name="3_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ppt/theme/theme5.xml><?xml version="1.0" encoding="utf-8"?>
<a:theme xmlns:a="http://schemas.openxmlformats.org/drawingml/2006/main" name="4_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6.xml><?xml version="1.0" encoding="utf-8"?>
<a:theme xmlns:a="http://schemas.openxmlformats.org/drawingml/2006/main" name="5_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257</TotalTime>
  <Words>1178</Words>
  <Application>Microsoft Office PowerPoint</Application>
  <PresentationFormat>Widescreen</PresentationFormat>
  <Paragraphs>84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0xProto Nerd Font Mono</vt:lpstr>
      <vt:lpstr>Calibri</vt:lpstr>
      <vt:lpstr>Tw Cen MT</vt:lpstr>
      <vt:lpstr>Tw Cen MT Condensed</vt:lpstr>
      <vt:lpstr>Wingdings</vt:lpstr>
      <vt:lpstr>Wingdings 3</vt:lpstr>
      <vt:lpstr>Integral</vt:lpstr>
      <vt:lpstr>1_Integral</vt:lpstr>
      <vt:lpstr>2_Integral</vt:lpstr>
      <vt:lpstr>3_Integral</vt:lpstr>
      <vt:lpstr>4_Integral</vt:lpstr>
      <vt:lpstr>5_Integral</vt:lpstr>
      <vt:lpstr>Forgeformer</vt:lpstr>
      <vt:lpstr>Why on earth would I do this?</vt:lpstr>
      <vt:lpstr>Why on earth would I do this?</vt:lpstr>
      <vt:lpstr>Architecture of Forgeformer</vt:lpstr>
      <vt:lpstr>Architecture of Forgeformer – part 1</vt:lpstr>
      <vt:lpstr>Architecture of Forgeformer – part 2</vt:lpstr>
      <vt:lpstr>Forgeformer attention layer 1</vt:lpstr>
      <vt:lpstr>Forgeformer attention layer 1 – part 1</vt:lpstr>
      <vt:lpstr>Forgeformer attention layer 1 – part 2</vt:lpstr>
      <vt:lpstr>Forgeformer attention layer 1 – part 3</vt:lpstr>
      <vt:lpstr>Forgeformer attention layer 2</vt:lpstr>
      <vt:lpstr>Forgeformer attention layer 2 – part 1</vt:lpstr>
      <vt:lpstr>Forgeformer attention layer 1 – part 2</vt:lpstr>
      <vt:lpstr>Forgeformer attention layer 1 – part 3</vt:lpstr>
      <vt:lpstr>Getting the sum out of the Forgeformer</vt:lpstr>
      <vt:lpstr>Getting the sum out of the Forgeformer</vt:lpstr>
      <vt:lpstr>TAKEAWAY</vt:lpstr>
      <vt:lpstr>TAKEAWAY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Aritro Shome</dc:creator>
  <cp:lastModifiedBy>Aritro Shome</cp:lastModifiedBy>
  <cp:revision>19</cp:revision>
  <dcterms:created xsi:type="dcterms:W3CDTF">2026-03-11T16:28:47Z</dcterms:created>
  <dcterms:modified xsi:type="dcterms:W3CDTF">2026-03-12T16:28:31Z</dcterms:modified>
</cp:coreProperties>
</file>